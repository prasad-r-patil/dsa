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5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C615F9-4F99-4AF5-9AE2-05ABD87F52B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1ADD86-AB76-4087-B5A8-39F4AE1D70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Since the tree satisfies Max-Heap property, then the largest item is stored at the root node.</a:t>
          </a:r>
          <a:endParaRPr lang="en-US"/>
        </a:p>
      </dgm:t>
    </dgm:pt>
    <dgm:pt modelId="{7C0F5521-6EDE-43BB-8315-26D06259E708}" type="parTrans" cxnId="{ED0DFEF5-0473-4E93-84EB-CB214375F92A}">
      <dgm:prSet/>
      <dgm:spPr/>
      <dgm:t>
        <a:bodyPr/>
        <a:lstStyle/>
        <a:p>
          <a:endParaRPr lang="en-US"/>
        </a:p>
      </dgm:t>
    </dgm:pt>
    <dgm:pt modelId="{CEB86FAD-620E-4FBA-AC2B-DFE4DC5B0F5C}" type="sibTrans" cxnId="{ED0DFEF5-0473-4E93-84EB-CB214375F92A}">
      <dgm:prSet/>
      <dgm:spPr/>
      <dgm:t>
        <a:bodyPr/>
        <a:lstStyle/>
        <a:p>
          <a:endParaRPr lang="en-US"/>
        </a:p>
      </dgm:t>
    </dgm:pt>
    <dgm:pt modelId="{D457A009-E3B4-4638-9443-79AD77898C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Swap:</a:t>
          </a:r>
          <a:r>
            <a:rPr lang="en-US" b="0" i="0"/>
            <a:t> the root element and the last array element</a:t>
          </a:r>
          <a:endParaRPr lang="en-US"/>
        </a:p>
      </dgm:t>
    </dgm:pt>
    <dgm:pt modelId="{738E1946-B1FF-47A5-951F-60DB77C9B286}" type="parTrans" cxnId="{54A57C70-C08E-43C2-973F-B360B80D83D3}">
      <dgm:prSet/>
      <dgm:spPr/>
      <dgm:t>
        <a:bodyPr/>
        <a:lstStyle/>
        <a:p>
          <a:endParaRPr lang="en-US"/>
        </a:p>
      </dgm:t>
    </dgm:pt>
    <dgm:pt modelId="{90656A40-1B5F-435E-AF18-890CE5312234}" type="sibTrans" cxnId="{54A57C70-C08E-43C2-973F-B360B80D83D3}">
      <dgm:prSet/>
      <dgm:spPr/>
      <dgm:t>
        <a:bodyPr/>
        <a:lstStyle/>
        <a:p>
          <a:endParaRPr lang="en-US"/>
        </a:p>
      </dgm:t>
    </dgm:pt>
    <dgm:pt modelId="{71E1AA91-5BDF-4828-88DE-5BCA48E7DE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Remove:</a:t>
          </a:r>
          <a:r>
            <a:rPr lang="en-US" b="0" i="0"/>
            <a:t> Reduce the size of the heap by 1.</a:t>
          </a:r>
          <a:endParaRPr lang="en-US"/>
        </a:p>
      </dgm:t>
    </dgm:pt>
    <dgm:pt modelId="{AEB58B7C-E7A2-4F04-85D6-96A4FAA4F7D4}" type="parTrans" cxnId="{1D641608-C8BA-4620-AD51-44593530CD7A}">
      <dgm:prSet/>
      <dgm:spPr/>
      <dgm:t>
        <a:bodyPr/>
        <a:lstStyle/>
        <a:p>
          <a:endParaRPr lang="en-US"/>
        </a:p>
      </dgm:t>
    </dgm:pt>
    <dgm:pt modelId="{87E33F6E-8DE5-42D1-A169-E46A62A5C881}" type="sibTrans" cxnId="{1D641608-C8BA-4620-AD51-44593530CD7A}">
      <dgm:prSet/>
      <dgm:spPr/>
      <dgm:t>
        <a:bodyPr/>
        <a:lstStyle/>
        <a:p>
          <a:endParaRPr lang="en-US"/>
        </a:p>
      </dgm:t>
    </dgm:pt>
    <dgm:pt modelId="{27CA4758-89F1-4D50-A42E-BA0F8CDEAB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Heapify:</a:t>
          </a:r>
          <a:r>
            <a:rPr lang="en-US" b="0" i="0"/>
            <a:t> Heapify the root element again so that we have the highest element at root.</a:t>
          </a:r>
          <a:endParaRPr lang="en-US"/>
        </a:p>
      </dgm:t>
    </dgm:pt>
    <dgm:pt modelId="{3B893725-D8FB-4C69-9913-805907A3553C}" type="parTrans" cxnId="{A2D0ED78-ACED-4072-8BF6-C32832A246DD}">
      <dgm:prSet/>
      <dgm:spPr/>
      <dgm:t>
        <a:bodyPr/>
        <a:lstStyle/>
        <a:p>
          <a:endParaRPr lang="en-US"/>
        </a:p>
      </dgm:t>
    </dgm:pt>
    <dgm:pt modelId="{2E556266-9187-4659-AAD3-7499F414D150}" type="sibTrans" cxnId="{A2D0ED78-ACED-4072-8BF6-C32832A246DD}">
      <dgm:prSet/>
      <dgm:spPr/>
      <dgm:t>
        <a:bodyPr/>
        <a:lstStyle/>
        <a:p>
          <a:endParaRPr lang="en-US"/>
        </a:p>
      </dgm:t>
    </dgm:pt>
    <dgm:pt modelId="{66E647D8-C014-41EB-9A8E-6BDD9B108348}" type="pres">
      <dgm:prSet presAssocID="{3EC615F9-4F99-4AF5-9AE2-05ABD87F52BC}" presName="root" presStyleCnt="0">
        <dgm:presLayoutVars>
          <dgm:dir/>
          <dgm:resizeHandles val="exact"/>
        </dgm:presLayoutVars>
      </dgm:prSet>
      <dgm:spPr/>
    </dgm:pt>
    <dgm:pt modelId="{6B8E627A-9A41-45F6-8E0A-A6B8DEE9D5C3}" type="pres">
      <dgm:prSet presAssocID="{BD1ADD86-AB76-4087-B5A8-39F4AE1D707F}" presName="compNode" presStyleCnt="0"/>
      <dgm:spPr/>
    </dgm:pt>
    <dgm:pt modelId="{5C0AD408-535F-4254-8198-E829DC9A29F6}" type="pres">
      <dgm:prSet presAssocID="{BD1ADD86-AB76-4087-B5A8-39F4AE1D707F}" presName="bgRect" presStyleLbl="bgShp" presStyleIdx="0" presStyleCnt="4"/>
      <dgm:spPr/>
    </dgm:pt>
    <dgm:pt modelId="{CEB4D980-EA11-4D74-B0F7-4A3AD7C04937}" type="pres">
      <dgm:prSet presAssocID="{BD1ADD86-AB76-4087-B5A8-39F4AE1D70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BB8EF29-AD3F-448A-825F-81A00A07DA9F}" type="pres">
      <dgm:prSet presAssocID="{BD1ADD86-AB76-4087-B5A8-39F4AE1D707F}" presName="spaceRect" presStyleCnt="0"/>
      <dgm:spPr/>
    </dgm:pt>
    <dgm:pt modelId="{72E3D593-1814-42D8-8677-7362FC7CC4A6}" type="pres">
      <dgm:prSet presAssocID="{BD1ADD86-AB76-4087-B5A8-39F4AE1D707F}" presName="parTx" presStyleLbl="revTx" presStyleIdx="0" presStyleCnt="4">
        <dgm:presLayoutVars>
          <dgm:chMax val="0"/>
          <dgm:chPref val="0"/>
        </dgm:presLayoutVars>
      </dgm:prSet>
      <dgm:spPr/>
    </dgm:pt>
    <dgm:pt modelId="{B2D257A2-4F2D-47A2-B885-FA3E9F228506}" type="pres">
      <dgm:prSet presAssocID="{CEB86FAD-620E-4FBA-AC2B-DFE4DC5B0F5C}" presName="sibTrans" presStyleCnt="0"/>
      <dgm:spPr/>
    </dgm:pt>
    <dgm:pt modelId="{F707EFBE-55BE-4D62-A440-16EF85FAF8F3}" type="pres">
      <dgm:prSet presAssocID="{D457A009-E3B4-4638-9443-79AD77898C99}" presName="compNode" presStyleCnt="0"/>
      <dgm:spPr/>
    </dgm:pt>
    <dgm:pt modelId="{6520CD7A-561C-4D00-9AB2-D98268632BBF}" type="pres">
      <dgm:prSet presAssocID="{D457A009-E3B4-4638-9443-79AD77898C99}" presName="bgRect" presStyleLbl="bgShp" presStyleIdx="1" presStyleCnt="4"/>
      <dgm:spPr/>
    </dgm:pt>
    <dgm:pt modelId="{911694A4-A8CF-4B52-B2C2-BC7E1587470A}" type="pres">
      <dgm:prSet presAssocID="{D457A009-E3B4-4638-9443-79AD77898C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41FC277-AFB0-4C1D-849E-36A59DA88474}" type="pres">
      <dgm:prSet presAssocID="{D457A009-E3B4-4638-9443-79AD77898C99}" presName="spaceRect" presStyleCnt="0"/>
      <dgm:spPr/>
    </dgm:pt>
    <dgm:pt modelId="{A70D2EAD-7D53-43AC-9F34-5274C5CB0403}" type="pres">
      <dgm:prSet presAssocID="{D457A009-E3B4-4638-9443-79AD77898C99}" presName="parTx" presStyleLbl="revTx" presStyleIdx="1" presStyleCnt="4">
        <dgm:presLayoutVars>
          <dgm:chMax val="0"/>
          <dgm:chPref val="0"/>
        </dgm:presLayoutVars>
      </dgm:prSet>
      <dgm:spPr/>
    </dgm:pt>
    <dgm:pt modelId="{2FD6A6AA-2EC1-41C8-A2F3-913BC045A3A1}" type="pres">
      <dgm:prSet presAssocID="{90656A40-1B5F-435E-AF18-890CE5312234}" presName="sibTrans" presStyleCnt="0"/>
      <dgm:spPr/>
    </dgm:pt>
    <dgm:pt modelId="{47BE6BF7-6D3F-44DD-B6E8-D0CE5B567065}" type="pres">
      <dgm:prSet presAssocID="{71E1AA91-5BDF-4828-88DE-5BCA48E7DEF8}" presName="compNode" presStyleCnt="0"/>
      <dgm:spPr/>
    </dgm:pt>
    <dgm:pt modelId="{8DDCA8B4-4651-48CD-85EC-52067C15C665}" type="pres">
      <dgm:prSet presAssocID="{71E1AA91-5BDF-4828-88DE-5BCA48E7DEF8}" presName="bgRect" presStyleLbl="bgShp" presStyleIdx="2" presStyleCnt="4"/>
      <dgm:spPr/>
    </dgm:pt>
    <dgm:pt modelId="{0F7331C3-8F98-4792-8AAE-8D6C45A40471}" type="pres">
      <dgm:prSet presAssocID="{71E1AA91-5BDF-4828-88DE-5BCA48E7DEF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D71A9AB-6A5C-41AE-A671-D161A36FDDB5}" type="pres">
      <dgm:prSet presAssocID="{71E1AA91-5BDF-4828-88DE-5BCA48E7DEF8}" presName="spaceRect" presStyleCnt="0"/>
      <dgm:spPr/>
    </dgm:pt>
    <dgm:pt modelId="{6E2F9DC0-80F0-47A5-9D77-1750FABD2164}" type="pres">
      <dgm:prSet presAssocID="{71E1AA91-5BDF-4828-88DE-5BCA48E7DEF8}" presName="parTx" presStyleLbl="revTx" presStyleIdx="2" presStyleCnt="4">
        <dgm:presLayoutVars>
          <dgm:chMax val="0"/>
          <dgm:chPref val="0"/>
        </dgm:presLayoutVars>
      </dgm:prSet>
      <dgm:spPr/>
    </dgm:pt>
    <dgm:pt modelId="{ED7C7827-062E-4948-B3A3-CC5EFF903E19}" type="pres">
      <dgm:prSet presAssocID="{87E33F6E-8DE5-42D1-A169-E46A62A5C881}" presName="sibTrans" presStyleCnt="0"/>
      <dgm:spPr/>
    </dgm:pt>
    <dgm:pt modelId="{AA40CB1C-853A-453E-A4B7-6B378CA87ABC}" type="pres">
      <dgm:prSet presAssocID="{27CA4758-89F1-4D50-A42E-BA0F8CDEAB0D}" presName="compNode" presStyleCnt="0"/>
      <dgm:spPr/>
    </dgm:pt>
    <dgm:pt modelId="{1645C5FE-B011-4240-BA2E-D6DD8FBDD979}" type="pres">
      <dgm:prSet presAssocID="{27CA4758-89F1-4D50-A42E-BA0F8CDEAB0D}" presName="bgRect" presStyleLbl="bgShp" presStyleIdx="3" presStyleCnt="4"/>
      <dgm:spPr/>
    </dgm:pt>
    <dgm:pt modelId="{86883BAF-6130-4126-BD29-D491884E41DE}" type="pres">
      <dgm:prSet presAssocID="{27CA4758-89F1-4D50-A42E-BA0F8CDEAB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4E74218-8D0F-4E0B-91C9-E84ACACB64E4}" type="pres">
      <dgm:prSet presAssocID="{27CA4758-89F1-4D50-A42E-BA0F8CDEAB0D}" presName="spaceRect" presStyleCnt="0"/>
      <dgm:spPr/>
    </dgm:pt>
    <dgm:pt modelId="{D68E10D4-D581-4CFC-8E6D-FB9BF7710416}" type="pres">
      <dgm:prSet presAssocID="{27CA4758-89F1-4D50-A42E-BA0F8CDEAB0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D641608-C8BA-4620-AD51-44593530CD7A}" srcId="{3EC615F9-4F99-4AF5-9AE2-05ABD87F52BC}" destId="{71E1AA91-5BDF-4828-88DE-5BCA48E7DEF8}" srcOrd="2" destOrd="0" parTransId="{AEB58B7C-E7A2-4F04-85D6-96A4FAA4F7D4}" sibTransId="{87E33F6E-8DE5-42D1-A169-E46A62A5C881}"/>
    <dgm:cxn modelId="{D33E7E1F-8FC3-413E-96CB-15C197628219}" type="presOf" srcId="{71E1AA91-5BDF-4828-88DE-5BCA48E7DEF8}" destId="{6E2F9DC0-80F0-47A5-9D77-1750FABD2164}" srcOrd="0" destOrd="0" presId="urn:microsoft.com/office/officeart/2018/2/layout/IconVerticalSolidList"/>
    <dgm:cxn modelId="{54A57C70-C08E-43C2-973F-B360B80D83D3}" srcId="{3EC615F9-4F99-4AF5-9AE2-05ABD87F52BC}" destId="{D457A009-E3B4-4638-9443-79AD77898C99}" srcOrd="1" destOrd="0" parTransId="{738E1946-B1FF-47A5-951F-60DB77C9B286}" sibTransId="{90656A40-1B5F-435E-AF18-890CE5312234}"/>
    <dgm:cxn modelId="{5D725756-6575-47CF-9A07-FA6D63C4392A}" type="presOf" srcId="{27CA4758-89F1-4D50-A42E-BA0F8CDEAB0D}" destId="{D68E10D4-D581-4CFC-8E6D-FB9BF7710416}" srcOrd="0" destOrd="0" presId="urn:microsoft.com/office/officeart/2018/2/layout/IconVerticalSolidList"/>
    <dgm:cxn modelId="{A2D0ED78-ACED-4072-8BF6-C32832A246DD}" srcId="{3EC615F9-4F99-4AF5-9AE2-05ABD87F52BC}" destId="{27CA4758-89F1-4D50-A42E-BA0F8CDEAB0D}" srcOrd="3" destOrd="0" parTransId="{3B893725-D8FB-4C69-9913-805907A3553C}" sibTransId="{2E556266-9187-4659-AAD3-7499F414D150}"/>
    <dgm:cxn modelId="{C446D659-0E03-4445-8C12-18E76F7F3BD7}" type="presOf" srcId="{D457A009-E3B4-4638-9443-79AD77898C99}" destId="{A70D2EAD-7D53-43AC-9F34-5274C5CB0403}" srcOrd="0" destOrd="0" presId="urn:microsoft.com/office/officeart/2018/2/layout/IconVerticalSolidList"/>
    <dgm:cxn modelId="{05FA2E8F-D113-4AC8-8578-CD4676D6B0A2}" type="presOf" srcId="{BD1ADD86-AB76-4087-B5A8-39F4AE1D707F}" destId="{72E3D593-1814-42D8-8677-7362FC7CC4A6}" srcOrd="0" destOrd="0" presId="urn:microsoft.com/office/officeart/2018/2/layout/IconVerticalSolidList"/>
    <dgm:cxn modelId="{D8F2FDF3-D842-41DD-B083-8E296213A66B}" type="presOf" srcId="{3EC615F9-4F99-4AF5-9AE2-05ABD87F52BC}" destId="{66E647D8-C014-41EB-9A8E-6BDD9B108348}" srcOrd="0" destOrd="0" presId="urn:microsoft.com/office/officeart/2018/2/layout/IconVerticalSolidList"/>
    <dgm:cxn modelId="{ED0DFEF5-0473-4E93-84EB-CB214375F92A}" srcId="{3EC615F9-4F99-4AF5-9AE2-05ABD87F52BC}" destId="{BD1ADD86-AB76-4087-B5A8-39F4AE1D707F}" srcOrd="0" destOrd="0" parTransId="{7C0F5521-6EDE-43BB-8315-26D06259E708}" sibTransId="{CEB86FAD-620E-4FBA-AC2B-DFE4DC5B0F5C}"/>
    <dgm:cxn modelId="{6A845C24-3C92-4515-8CCD-8F39CBC2BBAC}" type="presParOf" srcId="{66E647D8-C014-41EB-9A8E-6BDD9B108348}" destId="{6B8E627A-9A41-45F6-8E0A-A6B8DEE9D5C3}" srcOrd="0" destOrd="0" presId="urn:microsoft.com/office/officeart/2018/2/layout/IconVerticalSolidList"/>
    <dgm:cxn modelId="{FF6CAB32-E0D0-4CAA-8376-5274B3CAB07E}" type="presParOf" srcId="{6B8E627A-9A41-45F6-8E0A-A6B8DEE9D5C3}" destId="{5C0AD408-535F-4254-8198-E829DC9A29F6}" srcOrd="0" destOrd="0" presId="urn:microsoft.com/office/officeart/2018/2/layout/IconVerticalSolidList"/>
    <dgm:cxn modelId="{E4E69C83-96C3-42F0-9800-1A1780F423E5}" type="presParOf" srcId="{6B8E627A-9A41-45F6-8E0A-A6B8DEE9D5C3}" destId="{CEB4D980-EA11-4D74-B0F7-4A3AD7C04937}" srcOrd="1" destOrd="0" presId="urn:microsoft.com/office/officeart/2018/2/layout/IconVerticalSolidList"/>
    <dgm:cxn modelId="{5B92E966-B1F6-4845-A076-BFB6CD155758}" type="presParOf" srcId="{6B8E627A-9A41-45F6-8E0A-A6B8DEE9D5C3}" destId="{7BB8EF29-AD3F-448A-825F-81A00A07DA9F}" srcOrd="2" destOrd="0" presId="urn:microsoft.com/office/officeart/2018/2/layout/IconVerticalSolidList"/>
    <dgm:cxn modelId="{0DDB4243-5B53-41AF-A996-B99C8051CBB2}" type="presParOf" srcId="{6B8E627A-9A41-45F6-8E0A-A6B8DEE9D5C3}" destId="{72E3D593-1814-42D8-8677-7362FC7CC4A6}" srcOrd="3" destOrd="0" presId="urn:microsoft.com/office/officeart/2018/2/layout/IconVerticalSolidList"/>
    <dgm:cxn modelId="{35134516-061D-4EC4-81A8-F2292F0946AA}" type="presParOf" srcId="{66E647D8-C014-41EB-9A8E-6BDD9B108348}" destId="{B2D257A2-4F2D-47A2-B885-FA3E9F228506}" srcOrd="1" destOrd="0" presId="urn:microsoft.com/office/officeart/2018/2/layout/IconVerticalSolidList"/>
    <dgm:cxn modelId="{3CECB364-2F5C-44E6-96BF-969B973BDA22}" type="presParOf" srcId="{66E647D8-C014-41EB-9A8E-6BDD9B108348}" destId="{F707EFBE-55BE-4D62-A440-16EF85FAF8F3}" srcOrd="2" destOrd="0" presId="urn:microsoft.com/office/officeart/2018/2/layout/IconVerticalSolidList"/>
    <dgm:cxn modelId="{A2671D7A-2040-43B3-B2EA-7DF886FC36F3}" type="presParOf" srcId="{F707EFBE-55BE-4D62-A440-16EF85FAF8F3}" destId="{6520CD7A-561C-4D00-9AB2-D98268632BBF}" srcOrd="0" destOrd="0" presId="urn:microsoft.com/office/officeart/2018/2/layout/IconVerticalSolidList"/>
    <dgm:cxn modelId="{30B8A253-407E-4EB3-A522-BADBEA3BD78C}" type="presParOf" srcId="{F707EFBE-55BE-4D62-A440-16EF85FAF8F3}" destId="{911694A4-A8CF-4B52-B2C2-BC7E1587470A}" srcOrd="1" destOrd="0" presId="urn:microsoft.com/office/officeart/2018/2/layout/IconVerticalSolidList"/>
    <dgm:cxn modelId="{51CDAC07-4EAC-48A9-9350-2AEF7C0B3A04}" type="presParOf" srcId="{F707EFBE-55BE-4D62-A440-16EF85FAF8F3}" destId="{641FC277-AFB0-4C1D-849E-36A59DA88474}" srcOrd="2" destOrd="0" presId="urn:microsoft.com/office/officeart/2018/2/layout/IconVerticalSolidList"/>
    <dgm:cxn modelId="{9B3C4FD4-3B2E-4A49-8AFA-CB5390D61420}" type="presParOf" srcId="{F707EFBE-55BE-4D62-A440-16EF85FAF8F3}" destId="{A70D2EAD-7D53-43AC-9F34-5274C5CB0403}" srcOrd="3" destOrd="0" presId="urn:microsoft.com/office/officeart/2018/2/layout/IconVerticalSolidList"/>
    <dgm:cxn modelId="{A5709DC4-6BD1-4567-9EBB-F2715E4183D8}" type="presParOf" srcId="{66E647D8-C014-41EB-9A8E-6BDD9B108348}" destId="{2FD6A6AA-2EC1-41C8-A2F3-913BC045A3A1}" srcOrd="3" destOrd="0" presId="urn:microsoft.com/office/officeart/2018/2/layout/IconVerticalSolidList"/>
    <dgm:cxn modelId="{4ED48CCF-9784-46E4-BD0C-1CBBE4AA54DC}" type="presParOf" srcId="{66E647D8-C014-41EB-9A8E-6BDD9B108348}" destId="{47BE6BF7-6D3F-44DD-B6E8-D0CE5B567065}" srcOrd="4" destOrd="0" presId="urn:microsoft.com/office/officeart/2018/2/layout/IconVerticalSolidList"/>
    <dgm:cxn modelId="{F81C3172-E5D8-4389-8E83-9E497C292FC8}" type="presParOf" srcId="{47BE6BF7-6D3F-44DD-B6E8-D0CE5B567065}" destId="{8DDCA8B4-4651-48CD-85EC-52067C15C665}" srcOrd="0" destOrd="0" presId="urn:microsoft.com/office/officeart/2018/2/layout/IconVerticalSolidList"/>
    <dgm:cxn modelId="{BAEFC91A-6350-440D-8A72-23D42A2EA31E}" type="presParOf" srcId="{47BE6BF7-6D3F-44DD-B6E8-D0CE5B567065}" destId="{0F7331C3-8F98-4792-8AAE-8D6C45A40471}" srcOrd="1" destOrd="0" presId="urn:microsoft.com/office/officeart/2018/2/layout/IconVerticalSolidList"/>
    <dgm:cxn modelId="{869B772B-DDD9-4F4F-BBE3-C470CAB7915E}" type="presParOf" srcId="{47BE6BF7-6D3F-44DD-B6E8-D0CE5B567065}" destId="{FD71A9AB-6A5C-41AE-A671-D161A36FDDB5}" srcOrd="2" destOrd="0" presId="urn:microsoft.com/office/officeart/2018/2/layout/IconVerticalSolidList"/>
    <dgm:cxn modelId="{FB86386B-45E2-431C-9F63-45A61E3D867E}" type="presParOf" srcId="{47BE6BF7-6D3F-44DD-B6E8-D0CE5B567065}" destId="{6E2F9DC0-80F0-47A5-9D77-1750FABD2164}" srcOrd="3" destOrd="0" presId="urn:microsoft.com/office/officeart/2018/2/layout/IconVerticalSolidList"/>
    <dgm:cxn modelId="{B9656CD3-8447-41C0-9159-21CAACDE364F}" type="presParOf" srcId="{66E647D8-C014-41EB-9A8E-6BDD9B108348}" destId="{ED7C7827-062E-4948-B3A3-CC5EFF903E19}" srcOrd="5" destOrd="0" presId="urn:microsoft.com/office/officeart/2018/2/layout/IconVerticalSolidList"/>
    <dgm:cxn modelId="{959453EE-D6EA-4C79-AFF7-EAE81D588940}" type="presParOf" srcId="{66E647D8-C014-41EB-9A8E-6BDD9B108348}" destId="{AA40CB1C-853A-453E-A4B7-6B378CA87ABC}" srcOrd="6" destOrd="0" presId="urn:microsoft.com/office/officeart/2018/2/layout/IconVerticalSolidList"/>
    <dgm:cxn modelId="{4C345543-0017-4B81-93FA-C46D58755990}" type="presParOf" srcId="{AA40CB1C-853A-453E-A4B7-6B378CA87ABC}" destId="{1645C5FE-B011-4240-BA2E-D6DD8FBDD979}" srcOrd="0" destOrd="0" presId="urn:microsoft.com/office/officeart/2018/2/layout/IconVerticalSolidList"/>
    <dgm:cxn modelId="{43AAA7E1-ED45-44F9-ABD5-BE4737BE7845}" type="presParOf" srcId="{AA40CB1C-853A-453E-A4B7-6B378CA87ABC}" destId="{86883BAF-6130-4126-BD29-D491884E41DE}" srcOrd="1" destOrd="0" presId="urn:microsoft.com/office/officeart/2018/2/layout/IconVerticalSolidList"/>
    <dgm:cxn modelId="{212347A2-516D-4FE8-84B8-76D08EDA378A}" type="presParOf" srcId="{AA40CB1C-853A-453E-A4B7-6B378CA87ABC}" destId="{84E74218-8D0F-4E0B-91C9-E84ACACB64E4}" srcOrd="2" destOrd="0" presId="urn:microsoft.com/office/officeart/2018/2/layout/IconVerticalSolidList"/>
    <dgm:cxn modelId="{856EF614-9B40-4698-A453-7426DBBF0118}" type="presParOf" srcId="{AA40CB1C-853A-453E-A4B7-6B378CA87ABC}" destId="{D68E10D4-D581-4CFC-8E6D-FB9BF77104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0AD408-535F-4254-8198-E829DC9A29F6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B4D980-EA11-4D74-B0F7-4A3AD7C04937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3D593-1814-42D8-8677-7362FC7CC4A6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Since the tree satisfies Max-Heap property, then the largest item is stored at the root node.</a:t>
          </a:r>
          <a:endParaRPr lang="en-US" sz="2200" kern="1200"/>
        </a:p>
      </dsp:txBody>
      <dsp:txXfrm>
        <a:off x="1057183" y="1805"/>
        <a:ext cx="9458416" cy="915310"/>
      </dsp:txXfrm>
    </dsp:sp>
    <dsp:sp modelId="{6520CD7A-561C-4D00-9AB2-D98268632BBF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694A4-A8CF-4B52-B2C2-BC7E1587470A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D2EAD-7D53-43AC-9F34-5274C5CB0403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Swap:</a:t>
          </a:r>
          <a:r>
            <a:rPr lang="en-US" sz="2200" b="0" i="0" kern="1200"/>
            <a:t> the root element and the last array element</a:t>
          </a:r>
          <a:endParaRPr lang="en-US" sz="2200" kern="1200"/>
        </a:p>
      </dsp:txBody>
      <dsp:txXfrm>
        <a:off x="1057183" y="1145944"/>
        <a:ext cx="9458416" cy="915310"/>
      </dsp:txXfrm>
    </dsp:sp>
    <dsp:sp modelId="{8DDCA8B4-4651-48CD-85EC-52067C15C665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7331C3-8F98-4792-8AAE-8D6C45A40471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F9DC0-80F0-47A5-9D77-1750FABD2164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Remove:</a:t>
          </a:r>
          <a:r>
            <a:rPr lang="en-US" sz="2200" b="0" i="0" kern="1200"/>
            <a:t> Reduce the size of the heap by 1.</a:t>
          </a:r>
          <a:endParaRPr lang="en-US" sz="2200" kern="1200"/>
        </a:p>
      </dsp:txBody>
      <dsp:txXfrm>
        <a:off x="1057183" y="2290082"/>
        <a:ext cx="9458416" cy="915310"/>
      </dsp:txXfrm>
    </dsp:sp>
    <dsp:sp modelId="{1645C5FE-B011-4240-BA2E-D6DD8FBDD979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83BAF-6130-4126-BD29-D491884E41DE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8E10D4-D581-4CFC-8E6D-FB9BF7710416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Heapify:</a:t>
          </a:r>
          <a:r>
            <a:rPr lang="en-US" sz="2200" b="0" i="0" kern="1200"/>
            <a:t> Heapify the root element again so that we have the highest element at root.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5812-B13B-4FD7-963E-43938739D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FB319-9AD4-4168-BF22-8EB0F4425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F16FA-6ACC-4E79-B795-B9056C22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5B935-BD77-44B3-9DE2-CF7189085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FF81C-C5EC-4EE9-9FE3-36E037FD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0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247BC-27E8-46E9-A08F-8E42DCCE6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CB135-36EB-4A35-A8D4-85B62385B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9B6E-1E78-4FCA-9B28-B0F652349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AAA00-D672-4861-99E2-C85B31F5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4B25B-B044-43C6-AA9F-9200374D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3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8765-A487-491A-B221-0E01BAF8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08772-34E2-4F3E-A91B-99C689E82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B0810-A63A-49C8-9831-3BB46E05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3E8DF-6F61-4485-865A-501DB2C8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9D9E3-DD45-40C3-B73C-0B26A33B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2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1322-1901-4AF6-BF7D-1E466011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16D35-0D78-402D-956B-B2D3B34DF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B2C67-CE3F-40BB-AE6D-0C9153859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DE031-8ABC-4876-B5B3-6D61713D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8F710-F03A-4599-B897-7676BC749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6FB93-59C3-41A6-BBD7-3781A5CC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5405-FA65-42AB-AF61-9FD4EBC1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1B209-4418-4714-8558-050B7F061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E615B-B9BF-4533-B0E5-6672B98C7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653A0-C93E-466A-9389-1258254E12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3E9CC-3756-4577-A366-8EAB7C9C4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2CDCC6-5A1F-4F43-8FC4-7CBB1E79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110D22-0217-4A11-994D-36B9D8CB4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A58EF3-7CD7-4CEB-94C6-B20EF0B9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6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61B7-4509-432B-A1E4-F293087A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3EFBE-0BFB-4D08-9F11-1F1DE079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88BE6-386E-48C6-B180-B988AAE4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6A5B1-34C2-4E56-B997-894AFFFF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03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AC876-7910-4C44-A504-81DABAC1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1E19D-7C1C-4262-8A9C-2D99AE7EC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B3285-37C6-409E-9E23-CF2E1249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2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7B19-E585-44ED-9FCE-4F59DD7F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08C7D-A898-42BB-8448-D7FCAC65C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29933-03B9-4B7D-9B85-1EE34D2EF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1DDCC-5ED3-4D22-ACE1-55E25A50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EDFA1-0FA7-4A34-A156-1F270DDEC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19E28-1BE8-44AE-8648-4A82012C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4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3EC0-4BD7-4E65-A3B5-ADFFC5ED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60AF81-EA84-4826-A3F7-296A34DEC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B9095-DFA7-4BA3-A096-2652D3E35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50908-43EC-4E25-A351-EBDE98427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FF24B-A912-481B-8220-302B5529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E0BD3-766D-4E84-B2A6-376D0B03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3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4297-3872-4DD0-92CC-99ED9AB8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27799-A6F1-4F0B-9CB9-204E7DB65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BEE2-0583-4DC5-A372-8086A86AE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D2797-F2A9-45F5-8584-DDDF0EA8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2A1A8-4363-4B87-86EA-A60312EB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1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3DC733-B5DA-4AF8-8647-6C4E1066CC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D298B-31B1-41C2-B1F6-D61D89794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CAF9D-1017-4841-B542-9653262F9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61DD9-9D8B-4E2A-A00F-79040AC6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23C42-69FA-458E-AB02-316DE7B3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7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2DB544-4F68-4F0F-A06B-0F94CFFE4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0B7C1-69C9-4CC6-94B1-D0FF8B07E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6EA51-1909-4D52-B304-B5958DDAE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DB2BB-A2AF-4478-893A-267E59DC1091}" type="datetimeFigureOut">
              <a:rPr lang="en-US" smtClean="0"/>
              <a:t>2/27/2022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47303-C12F-4E35-97DB-4506C782C0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40055-DCC8-480A-8AEA-236D89BEB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4C4B3-C30A-4C03-81A2-3EB8E7DDC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9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7344-472B-42B7-83F0-2C5B3554F8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Heapsort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B5B44-C0E1-41E3-88F6-B6A1D5C7FC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3164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4AFB2-28B1-4002-B674-E0A7C8162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4200" b="1" i="0">
                <a:effectLst/>
                <a:latin typeface="euclid_circular_a"/>
              </a:rPr>
              <a:t>Relationship between Array Indexes and Tree Elements</a:t>
            </a:r>
            <a:endParaRPr lang="en-US" sz="420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5A32-828C-40E2-B8DB-82A405D68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 b="0" i="0">
                <a:effectLst/>
                <a:latin typeface="euclid_circular_a"/>
              </a:rPr>
              <a:t>A complete binary tree has an interesting property that we can use to find the children and parents of any node.</a:t>
            </a:r>
          </a:p>
          <a:p>
            <a:r>
              <a:rPr lang="en-US" sz="2200" b="0" i="0">
                <a:effectLst/>
                <a:latin typeface="euclid_circular_a"/>
              </a:rPr>
              <a:t>If the index of any element in the array is </a:t>
            </a:r>
            <a:r>
              <a:rPr lang="en-US" sz="2200">
                <a:latin typeface="droid sans mono"/>
              </a:rPr>
              <a:t>i</a:t>
            </a:r>
            <a:endParaRPr lang="en-US" sz="2200">
              <a:latin typeface="euclid_circular_a"/>
            </a:endParaRPr>
          </a:p>
          <a:p>
            <a:pPr lvl="1"/>
            <a:r>
              <a:rPr lang="en-US" sz="2200" b="0" i="0">
                <a:effectLst/>
                <a:latin typeface="euclid_circular_a"/>
              </a:rPr>
              <a:t>the element in the index 2i+1 will become the left child</a:t>
            </a:r>
          </a:p>
          <a:p>
            <a:pPr lvl="1"/>
            <a:r>
              <a:rPr lang="en-US" sz="2200" b="0" i="0">
                <a:effectLst/>
                <a:latin typeface="euclid_circular_a"/>
              </a:rPr>
              <a:t>the element in the index 2i+2 will become the right child</a:t>
            </a:r>
          </a:p>
          <a:p>
            <a:r>
              <a:rPr lang="en-US" sz="2200" b="0" i="0">
                <a:effectLst/>
                <a:latin typeface="euclid_circular_a"/>
              </a:rPr>
              <a:t>Also, the parent of any element at index i is given by the lower bound of (i-1)/2.</a:t>
            </a:r>
            <a:endParaRPr lang="en-US" sz="2200"/>
          </a:p>
        </p:txBody>
      </p:sp>
      <p:pic>
        <p:nvPicPr>
          <p:cNvPr id="7" name="Picture 6" descr="Diagram&#10;&#10;Description automatically generated with low confidence">
            <a:extLst>
              <a:ext uri="{FF2B5EF4-FFF2-40B4-BE49-F238E27FC236}">
                <a16:creationId xmlns:a16="http://schemas.microsoft.com/office/drawing/2014/main" id="{54D3801B-FA9C-43F1-8373-E39684174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893" y="329183"/>
            <a:ext cx="3800109" cy="3429969"/>
          </a:xfrm>
          <a:prstGeom prst="rect">
            <a:avLst/>
          </a:prstGeom>
        </p:spPr>
      </p:pic>
      <p:pic>
        <p:nvPicPr>
          <p:cNvPr id="9" name="Picture 8" descr="Calendar&#10;&#10;Description automatically generated with medium confidence">
            <a:extLst>
              <a:ext uri="{FF2B5EF4-FFF2-40B4-BE49-F238E27FC236}">
                <a16:creationId xmlns:a16="http://schemas.microsoft.com/office/drawing/2014/main" id="{8EFD870A-5147-49CD-A46C-6041A563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39257"/>
            <a:ext cx="3995928" cy="125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0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46413-F276-4876-880C-50D1FF99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b="1" i="0">
                <a:effectLst/>
                <a:latin typeface="euclid_circular_a"/>
              </a:rPr>
              <a:t>Heap Data Structure</a:t>
            </a:r>
            <a:endParaRPr lang="en-US" sz="54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686ED-D2D9-461D-8359-74C47BA54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 b="0" i="0">
                <a:effectLst/>
                <a:latin typeface="euclid_circular_a"/>
              </a:rPr>
              <a:t>Heap is a special tree-based data structure</a:t>
            </a:r>
          </a:p>
          <a:p>
            <a:r>
              <a:rPr lang="en-US" sz="2200" b="0" i="0">
                <a:effectLst/>
                <a:latin typeface="euclid_circular_a"/>
              </a:rPr>
              <a:t>A binary tree is said to follow a heap data structure if</a:t>
            </a:r>
            <a:endParaRPr lang="en-US" sz="2200">
              <a:latin typeface="euclid_circular_a"/>
            </a:endParaRPr>
          </a:p>
          <a:p>
            <a:pPr lvl="1"/>
            <a:r>
              <a:rPr lang="en-US" sz="2200"/>
              <a:t>it is a complete binary tree</a:t>
            </a:r>
          </a:p>
          <a:p>
            <a:pPr lvl="1"/>
            <a:r>
              <a:rPr lang="en-US" sz="2200" b="0" i="0">
                <a:effectLst/>
                <a:latin typeface="euclid_circular_a"/>
              </a:rPr>
              <a:t>All nodes in the tree follow the property that </a:t>
            </a:r>
          </a:p>
          <a:p>
            <a:pPr lvl="2"/>
            <a:r>
              <a:rPr lang="en-US" sz="2200">
                <a:latin typeface="euclid_circular_a"/>
              </a:rPr>
              <a:t>T</a:t>
            </a:r>
            <a:r>
              <a:rPr lang="en-US" sz="2200" b="0" i="0">
                <a:effectLst/>
                <a:latin typeface="euclid_circular_a"/>
              </a:rPr>
              <a:t>hey are greater than their children : Max-Heap</a:t>
            </a:r>
          </a:p>
          <a:p>
            <a:pPr lvl="2"/>
            <a:r>
              <a:rPr lang="en-US" sz="2200" b="0" i="0">
                <a:effectLst/>
                <a:latin typeface="euclid_circular_a"/>
              </a:rPr>
              <a:t>Or all nodes are smaller than their children : Min-Heap</a:t>
            </a:r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E0C8B-5FF4-4E47-A752-E88BE0F2A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358" y="329183"/>
            <a:ext cx="2829179" cy="3429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5A7FBC-0B04-4E2D-80FD-74324BFAD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674" y="4079193"/>
            <a:ext cx="2018259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6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42DC5-9875-4E6B-8023-528785CE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What is </a:t>
            </a:r>
            <a:r>
              <a:rPr lang="en-US" sz="5400" b="1">
                <a:latin typeface="euclid_circular_a"/>
              </a:rPr>
              <a:t>H</a:t>
            </a:r>
            <a:r>
              <a:rPr lang="en-US" sz="5400" b="1" i="0">
                <a:effectLst/>
                <a:latin typeface="euclid_circular_a"/>
              </a:rPr>
              <a:t>eapify</a:t>
            </a:r>
            <a:endParaRPr lang="en-US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8B35-48EB-4A77-BE62-FEF292C01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b="0" i="0">
                <a:effectLst/>
                <a:latin typeface="arial" panose="020B0604020202020204" pitchFamily="34" charset="0"/>
              </a:rPr>
              <a:t>Heapify is </a:t>
            </a:r>
            <a:r>
              <a:rPr lang="en-US" sz="2200" b="1" i="0">
                <a:effectLst/>
                <a:latin typeface="arial" panose="020B0604020202020204" pitchFamily="34" charset="0"/>
              </a:rPr>
              <a:t>the process of creating a heap data structure from a binary tree</a:t>
            </a:r>
            <a:r>
              <a:rPr lang="en-US" sz="2200" b="0" i="0">
                <a:effectLst/>
                <a:latin typeface="arial" panose="020B0604020202020204" pitchFamily="34" charset="0"/>
              </a:rPr>
              <a:t>.</a:t>
            </a:r>
          </a:p>
          <a:p>
            <a:endParaRPr lang="en-US" sz="2200"/>
          </a:p>
        </p:txBody>
      </p:sp>
      <p:pic>
        <p:nvPicPr>
          <p:cNvPr id="5" name="Picture 4" descr="Chart, bubble chart&#10;&#10;Description automatically generated">
            <a:extLst>
              <a:ext uri="{FF2B5EF4-FFF2-40B4-BE49-F238E27FC236}">
                <a16:creationId xmlns:a16="http://schemas.microsoft.com/office/drawing/2014/main" id="{9E78D417-076E-49CB-A853-26942633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029957"/>
            <a:ext cx="6903720" cy="479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4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4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9590DEE0-73B7-41FE-AA04-CB7D9CD39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511" y="643467"/>
            <a:ext cx="6592978" cy="55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86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C4A09C-C10D-4025-A24A-2AEFB7D01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Max-Heapify Operation</a:t>
            </a: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BCAEFBD-6C4E-4D4E-BBCE-D1AFC1BC9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933" y="848666"/>
            <a:ext cx="7347537" cy="516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58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7087-1CED-405C-8E97-DF952F42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</a:t>
            </a:r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max-heap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9A080-4071-498D-BD88-CD83F9465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uclid_circular_a"/>
              </a:rPr>
              <a:t>To build a max-heap from any tree, we can thus start </a:t>
            </a:r>
            <a:r>
              <a:rPr lang="en-US" b="0" i="0" dirty="0" err="1">
                <a:effectLst/>
                <a:latin typeface="euclid_circular_a"/>
              </a:rPr>
              <a:t>heapifying</a:t>
            </a:r>
            <a:r>
              <a:rPr lang="en-US" b="0" i="0" dirty="0">
                <a:effectLst/>
                <a:latin typeface="euclid_circular_a"/>
              </a:rPr>
              <a:t> each sub-tree from the bottom up and end up to the root element.</a:t>
            </a:r>
          </a:p>
          <a:p>
            <a:r>
              <a:rPr lang="en-US" dirty="0">
                <a:latin typeface="euclid_circular_a"/>
              </a:rPr>
              <a:t>Start our algorithm with a node that is at the lowest level of the tree and has children node (n/2 - 1)</a:t>
            </a:r>
          </a:p>
          <a:p>
            <a:r>
              <a:rPr lang="en-US" dirty="0">
                <a:latin typeface="euclid_circular_a"/>
              </a:rPr>
              <a:t>Continue this process and make sure all the subtrees are following the max-heap property</a:t>
            </a:r>
          </a:p>
          <a:p>
            <a:endParaRPr lang="en-US" dirty="0">
              <a:latin typeface="euclid_circular_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26132-DAD3-498F-93FF-7C84248AF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840" y="4757999"/>
            <a:ext cx="6865959" cy="141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60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E26E-3731-4750-9A2F-96F004D7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B4D18-C9CA-4288-B223-6AF857FDC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74" y="2747327"/>
            <a:ext cx="3931065" cy="1820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B4AACB-A06D-4B49-9635-13CCD6157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458" y="152230"/>
            <a:ext cx="5078582" cy="3212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DB46C7-B0C1-4D74-A728-00F9BD9F4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851" y="3610874"/>
            <a:ext cx="3236602" cy="317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0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59D896-0CB1-41F1-BC8B-461EFCAB1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339" y="152400"/>
            <a:ext cx="5473981" cy="3810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B21295-D4AF-47AC-A23B-217768C69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340" y="3947356"/>
            <a:ext cx="5504358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8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2DCB-12C3-433D-A577-655B33E9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Heap Sort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299D69C-FCCF-4558-AED0-09198AE827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5165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51A4272F-C475-4D86-A97F-7209A15E8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123" y="643467"/>
            <a:ext cx="5272119" cy="4995333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953211-D924-4198-AE32-1FCA4CE1D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930" y="5638800"/>
            <a:ext cx="5243053" cy="95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2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, bubble chart&#10;&#10;Description automatically generated">
            <a:extLst>
              <a:ext uri="{FF2B5EF4-FFF2-40B4-BE49-F238E27FC236}">
                <a16:creationId xmlns:a16="http://schemas.microsoft.com/office/drawing/2014/main" id="{2A448486-2D0A-4385-966D-7960235D9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202" y="643467"/>
            <a:ext cx="5083595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08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F5CD92-992A-4B95-B576-87B3995F3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555" y="643467"/>
            <a:ext cx="584888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63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697E1D-C752-4076-A2B6-8DB1263A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820" y="643467"/>
            <a:ext cx="595835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73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4A113E-D208-4EF0-8BAB-25FDD2E58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570814"/>
            <a:ext cx="0" cy="3710227"/>
          </a:xfrm>
          <a:prstGeom prst="line">
            <a:avLst/>
          </a:prstGeom>
          <a:ln w="19050">
            <a:solidFill>
              <a:srgbClr val="FFBC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80D6C76-98B0-4F7D-8353-774ACCDE2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595843"/>
            <a:ext cx="6181688" cy="1660168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E16547-5205-4F0E-B809-89D18FF4C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49896" y="1573887"/>
            <a:ext cx="0" cy="3710227"/>
          </a:xfrm>
          <a:prstGeom prst="line">
            <a:avLst/>
          </a:prstGeom>
          <a:ln w="19050">
            <a:solidFill>
              <a:srgbClr val="FFBC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EE88829-61CA-4176-BC41-5C3C6B21D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008" y="2753706"/>
            <a:ext cx="3299247" cy="134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3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293</Words>
  <Application>Microsoft Office PowerPoint</Application>
  <PresentationFormat>Widescreen</PresentationFormat>
  <Paragraphs>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</vt:lpstr>
      <vt:lpstr>Calibri</vt:lpstr>
      <vt:lpstr>Calibri Light</vt:lpstr>
      <vt:lpstr>droid sans mono</vt:lpstr>
      <vt:lpstr>euclid_circular_a</vt:lpstr>
      <vt:lpstr>Office Theme</vt:lpstr>
      <vt:lpstr>Heapsort</vt:lpstr>
      <vt:lpstr>Relationship between Array Indexes and Tree Elements</vt:lpstr>
      <vt:lpstr>Heap Data Structure</vt:lpstr>
      <vt:lpstr>What is Heapify</vt:lpstr>
      <vt:lpstr>PowerPoint Presentation</vt:lpstr>
      <vt:lpstr>Max-Heapify Operation</vt:lpstr>
      <vt:lpstr>Building max-heap</vt:lpstr>
      <vt:lpstr>Example</vt:lpstr>
      <vt:lpstr>PowerPoint Presentation</vt:lpstr>
      <vt:lpstr>Heap Sort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Heapsort</dc:title>
  <dc:creator>Shrinivas Dudhani</dc:creator>
  <cp:lastModifiedBy>Shrinivas Dudhani</cp:lastModifiedBy>
  <cp:revision>6</cp:revision>
  <dcterms:created xsi:type="dcterms:W3CDTF">2022-02-27T01:53:11Z</dcterms:created>
  <dcterms:modified xsi:type="dcterms:W3CDTF">2022-02-27T02:47:09Z</dcterms:modified>
</cp:coreProperties>
</file>